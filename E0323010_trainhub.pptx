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9" r:id="rId8"/>
    <p:sldId id="280" r:id="rId9"/>
    <p:sldId id="263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86" y="19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96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06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87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296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4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84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870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21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40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09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63A3D-4344-495F-887E-B74B4F4687A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81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Industry Specific Practices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Training Management System(</a:t>
            </a:r>
            <a:r>
              <a:rPr lang="en-IN" dirty="0" err="1"/>
              <a:t>TrainHub</a:t>
            </a:r>
            <a:r>
              <a:rPr lang="en-IN" dirty="0"/>
              <a:t>)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6F6C4C-3600-A4E5-0ADB-E27849AD1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978" y="668108"/>
            <a:ext cx="7592485" cy="1648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2914E9-3819-A860-1C1C-23362E5446B7}"/>
              </a:ext>
            </a:extLst>
          </p:cNvPr>
          <p:cNvSpPr txBox="1"/>
          <p:nvPr/>
        </p:nvSpPr>
        <p:spPr>
          <a:xfrm>
            <a:off x="7347006" y="5257800"/>
            <a:ext cx="4436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 Nitish S M (E0323010) Department: B-Tech CSE (AIDA)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41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Problem Definition</a:t>
            </a:r>
            <a:br>
              <a:rPr lang="en-US" b="1" dirty="0"/>
            </a:br>
            <a:r>
              <a:rPr lang="en-US" sz="2100" b="1" dirty="0"/>
              <a:t>(</a:t>
            </a:r>
            <a:r>
              <a:rPr lang="en-US" sz="2300" b="1" dirty="0"/>
              <a:t>The SMART Criteria)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515" y="1241240"/>
            <a:ext cx="10515600" cy="5421953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300" b="1" dirty="0"/>
              <a:t>Specific:</a:t>
            </a:r>
            <a:r>
              <a:rPr lang="en-US" sz="2300" dirty="0"/>
              <a:t>  Instead of "Training is hard to manage," our focus is: "Lack of a centralized, role-based platform to manage internal employee training, course enrollments, and instructor progress.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300" b="1" dirty="0"/>
              <a:t>Measurable:</a:t>
            </a:r>
            <a:r>
              <a:rPr lang="en-US" sz="2300" dirty="0"/>
              <a:t> Currently, manual tracking via spreadsheets causes high administrative overhead and lacks real-time visibility into the exact number of employee enrollments and course completion rates.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300" b="1" dirty="0" err="1"/>
              <a:t>Achievable:</a:t>
            </a:r>
            <a:r>
              <a:rPr lang="en-US" sz="2300" dirty="0" err="1"/>
              <a:t>This</a:t>
            </a:r>
            <a:r>
              <a:rPr lang="en-US" sz="2300" dirty="0"/>
              <a:t> problem is fully resolvable by developing a dedicated web application using the MERN stack (MongoDB, Express, React, Node.js) with automated Role-Based Access Control (RBAC).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300" b="1" dirty="0"/>
              <a:t>Relevant:</a:t>
            </a:r>
            <a:r>
              <a:rPr lang="en-US" sz="2300" dirty="0"/>
              <a:t> Directly aligns with the organizational goal of upskilling the workforce efficiently, improving employee onboarding, and maintaining accurate training compliance records.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300" b="1" dirty="0"/>
              <a:t>Time-bound:</a:t>
            </a:r>
            <a:r>
              <a:rPr lang="en-US" sz="2300" dirty="0"/>
              <a:t> Deliver a fully functional and deployed MVP of the </a:t>
            </a:r>
            <a:r>
              <a:rPr lang="en-US" sz="2300" dirty="0" err="1"/>
              <a:t>TrainHub</a:t>
            </a:r>
            <a:r>
              <a:rPr lang="en-US" sz="2300" dirty="0"/>
              <a:t> portal by the end of the academic project deadline.</a:t>
            </a:r>
          </a:p>
        </p:txBody>
      </p:sp>
    </p:spTree>
    <p:extLst>
      <p:ext uri="{BB962C8B-B14F-4D97-AF65-F5344CB8AC3E}">
        <p14:creationId xmlns:p14="http://schemas.microsoft.com/office/powerpoint/2010/main" val="1603150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Current vs. Desired State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532949"/>
              </p:ext>
            </p:extLst>
          </p:nvPr>
        </p:nvGraphicFramePr>
        <p:xfrm>
          <a:off x="504244" y="1579134"/>
          <a:ext cx="10715046" cy="4845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686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state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Desired state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7734">
                <a:tc>
                  <a:txBody>
                    <a:bodyPr/>
                    <a:lstStyle/>
                    <a:p>
                      <a:r>
                        <a:rPr lang="en-US" dirty="0"/>
                        <a:t>Process followed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 tracking of employee training and course enrollments using disparate spreadsheets and emails.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Centralized, automated self-service portal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TrainHub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using Role-Based Access Control (RBAC) for Admins, Trainers, and Employees.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7734">
                <a:tc>
                  <a:txBody>
                    <a:bodyPr/>
                    <a:lstStyle/>
                    <a:p>
                      <a:r>
                        <a:rPr lang="en-US" dirty="0"/>
                        <a:t>Bottlenecks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administrative overhead, missing data, delayed reporting, and no real-time visibility into employee progress or course popularity.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analytics dashboards, seamless course creation, instant progress tracking, and zero manual data synchronization.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365">
                <a:tc>
                  <a:txBody>
                    <a:bodyPr/>
                    <a:lstStyle/>
                    <a:p>
                      <a:r>
                        <a:rPr lang="en-US" dirty="0"/>
                        <a:t>Impact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Wasted HR/Trainer hours, inaccurate compliance/training records, and a frustrating, disorganized learning experience for employees.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Highly efficient training management, 100% accurate compliance records, and a scalable, modern learning environment for the workforce.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35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About the Problem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786" y="1423284"/>
            <a:ext cx="10725647" cy="52558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300" b="1" dirty="0"/>
              <a:t>Who:</a:t>
            </a:r>
            <a:r>
              <a:rPr lang="en-US" sz="2300" dirty="0"/>
              <a:t> System Administrators, Instructors (Trainers), and Employees (Learners).</a:t>
            </a:r>
          </a:p>
          <a:p>
            <a:pPr>
              <a:lnSpc>
                <a:spcPct val="100000"/>
              </a:lnSpc>
            </a:pPr>
            <a:r>
              <a:rPr lang="en-US" sz="2300" b="1" dirty="0"/>
              <a:t>What:</a:t>
            </a:r>
            <a:r>
              <a:rPr lang="en-US" sz="2300" dirty="0"/>
              <a:t> Inefficient manual tracking of employee training, course enrollments, and progress monitoring.</a:t>
            </a:r>
          </a:p>
          <a:p>
            <a:pPr>
              <a:lnSpc>
                <a:spcPct val="100000"/>
              </a:lnSpc>
            </a:pPr>
            <a:r>
              <a:rPr lang="en-US" sz="2300" b="1" dirty="0"/>
              <a:t>Where:</a:t>
            </a:r>
            <a:r>
              <a:rPr lang="en-US" sz="2300" dirty="0"/>
              <a:t> Across internal HR/administrative networks and decentralized communication channels (emails/spreadsheets).</a:t>
            </a:r>
          </a:p>
          <a:p>
            <a:pPr>
              <a:lnSpc>
                <a:spcPct val="100000"/>
              </a:lnSpc>
            </a:pPr>
            <a:r>
              <a:rPr lang="en-US" sz="2300" b="1" dirty="0"/>
              <a:t>When:</a:t>
            </a:r>
            <a:r>
              <a:rPr lang="en-US" sz="2300" dirty="0"/>
              <a:t> During onboarding, compliance training cycles, and when generating organizational learning reports.</a:t>
            </a:r>
          </a:p>
          <a:p>
            <a:pPr>
              <a:lnSpc>
                <a:spcPct val="100000"/>
              </a:lnSpc>
            </a:pPr>
            <a:r>
              <a:rPr lang="en-US" sz="2300" b="1" dirty="0"/>
              <a:t>Why:</a:t>
            </a:r>
            <a:r>
              <a:rPr lang="en-US" sz="2300" dirty="0"/>
              <a:t> Lack of a centralized training database and automated role-based access control.</a:t>
            </a:r>
          </a:p>
          <a:p>
            <a:pPr>
              <a:lnSpc>
                <a:spcPct val="100000"/>
              </a:lnSpc>
            </a:pPr>
            <a:r>
              <a:rPr lang="en-US" sz="2300" b="1" dirty="0"/>
              <a:t>How Much :</a:t>
            </a:r>
            <a:r>
              <a:rPr lang="en-US" sz="2300" dirty="0"/>
              <a:t> High risk of inaccurate compliance records, massive time wasted on manual data entry, and hindered employee upskilling.</a:t>
            </a:r>
          </a:p>
        </p:txBody>
      </p:sp>
    </p:spTree>
    <p:extLst>
      <p:ext uri="{BB962C8B-B14F-4D97-AF65-F5344CB8AC3E}">
        <p14:creationId xmlns:p14="http://schemas.microsoft.com/office/powerpoint/2010/main" val="406209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ISO/IEC/IEEE 29148:2018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732572"/>
              </p:ext>
            </p:extLst>
          </p:nvPr>
        </p:nvGraphicFramePr>
        <p:xfrm>
          <a:off x="782541" y="1814686"/>
          <a:ext cx="9601862" cy="4490697"/>
        </p:xfrm>
        <a:graphic>
          <a:graphicData uri="http://schemas.openxmlformats.org/drawingml/2006/table">
            <a:tbl>
              <a:tblPr/>
              <a:tblGrid>
                <a:gridCol w="2705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6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Context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The transition from manual, decentralized corporate training tracking to a unified, automated Learning Management System (LMS).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Stakeholders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System Administrators, Instructors (Trainers), Employees (Learners), and HR Management.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Scope Boundary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The system manages enrollments and tracking; it </a:t>
                      </a:r>
                      <a:r>
                        <a:rPr lang="en-US" b="1">
                          <a:effectLst/>
                        </a:rPr>
                        <a:t>is not</a:t>
                      </a:r>
                      <a:r>
                        <a:rPr lang="en-US">
                          <a:effectLst/>
                        </a:rPr>
                        <a:t> an authoring tool for creating video content, nor is it an external e-commerce platform for public users.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67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Success Criteria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Definition of Done (DoD):</a:t>
                      </a:r>
                      <a:r>
                        <a:rPr lang="en-US" dirty="0">
                          <a:effectLst/>
                        </a:rPr>
                        <a:t> A fully deployed MERN-stack application where trainers can publish courses, employees can successfully enroll, and admins can monitor real-time completion statistics.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436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Requirements Engineering Life Cycle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543" y="1715342"/>
            <a:ext cx="10789257" cy="477753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300" b="1" dirty="0"/>
              <a:t>Elicitation:</a:t>
            </a:r>
            <a:r>
              <a:rPr lang="en-US" sz="2300" dirty="0"/>
              <a:t> Gathering needs directly from HR administrators and Trainers (e.g., understanding their frustration with manual spreadsheet tracking).</a:t>
            </a:r>
          </a:p>
          <a:p>
            <a:pPr>
              <a:lnSpc>
                <a:spcPct val="100000"/>
              </a:lnSpc>
            </a:pPr>
            <a:r>
              <a:rPr lang="en-US" sz="2300" b="1" dirty="0"/>
              <a:t>Analysis:</a:t>
            </a:r>
            <a:r>
              <a:rPr lang="en-US" sz="2300" dirty="0"/>
              <a:t> Negotiating conflicts (e.g., balancing the Admins' desire for complex analytics with the need to quickly deliver a stable MERN-stack MVP) and checking technical feasibility.</a:t>
            </a:r>
          </a:p>
          <a:p>
            <a:pPr>
              <a:lnSpc>
                <a:spcPct val="100000"/>
              </a:lnSpc>
            </a:pPr>
            <a:r>
              <a:rPr lang="en-US" sz="2300" b="1" dirty="0"/>
              <a:t>Specification:</a:t>
            </a:r>
            <a:r>
              <a:rPr lang="en-US" sz="2300" dirty="0"/>
              <a:t> Documenting the system requirements through Agile User Stories (e.g., </a:t>
            </a:r>
            <a:r>
              <a:rPr lang="en-US" sz="2300" i="1" dirty="0"/>
              <a:t>"As a trainer, I can create a course..."</a:t>
            </a:r>
            <a:r>
              <a:rPr lang="en-US" sz="2300" dirty="0"/>
              <a:t>) and technical architectural planning.</a:t>
            </a:r>
          </a:p>
          <a:p>
            <a:pPr>
              <a:lnSpc>
                <a:spcPct val="100000"/>
              </a:lnSpc>
            </a:pPr>
            <a:r>
              <a:rPr lang="en-US" sz="2300" b="1" dirty="0"/>
              <a:t>Validation:</a:t>
            </a:r>
            <a:r>
              <a:rPr lang="en-US" sz="2300" dirty="0"/>
              <a:t> Demoing the </a:t>
            </a:r>
            <a:r>
              <a:rPr lang="en-US" sz="2300" dirty="0" err="1"/>
              <a:t>TrainHub</a:t>
            </a:r>
            <a:r>
              <a:rPr lang="en-US" sz="2300" dirty="0"/>
              <a:t> React frontend and dashboards to stakeholders to confirm, "Yes, this automated system actually solves our manual tracking problem."</a:t>
            </a:r>
          </a:p>
        </p:txBody>
      </p:sp>
    </p:spTree>
    <p:extLst>
      <p:ext uri="{BB962C8B-B14F-4D97-AF65-F5344CB8AC3E}">
        <p14:creationId xmlns:p14="http://schemas.microsoft.com/office/powerpoint/2010/main" val="2974528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C205-9712-CBF9-5067-BFF00B40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A0C9-AAC2-F502-D98B-5D3284760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979"/>
            <a:ext cx="10515600" cy="183515"/>
          </a:xfrm>
        </p:spPr>
        <p:txBody>
          <a:bodyPr>
            <a:noAutofit/>
          </a:bodyPr>
          <a:lstStyle/>
          <a:p>
            <a:pPr algn="ctr">
              <a:lnSpc>
                <a:spcPts val="12880"/>
              </a:lnSpc>
            </a:pPr>
            <a:r>
              <a:rPr lang="en-US" b="1" dirty="0">
                <a:solidFill>
                  <a:srgbClr val="000000"/>
                </a:solidFill>
                <a:latin typeface="Calibri Light (Headings)"/>
                <a:ea typeface="Canva Sans Bold"/>
                <a:cs typeface="Canva Sans Bold"/>
                <a:sym typeface="Canva Sans Bold"/>
              </a:rPr>
              <a:t>System Requirements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3D3875F-DACA-032A-6794-BCE152CA79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100459"/>
              </p:ext>
            </p:extLst>
          </p:nvPr>
        </p:nvGraphicFramePr>
        <p:xfrm>
          <a:off x="598308" y="2043105"/>
          <a:ext cx="10515600" cy="2468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398866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137240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Minimum Requirement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99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Operating System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Windows 10/11, macOS, or Linux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261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Backend Environment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Node.js (v16.0 or higher)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567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Database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MongoDB (Local Installation or MongoDB Atlas Cloud)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567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Package Manager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npm (v8.0+) or yarn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690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Client Interface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Modern Web Browser (Google Chrome, Firefox, Safari, Edge)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0471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38619FD-36EF-C84C-DACA-28D226B219D8}"/>
              </a:ext>
            </a:extLst>
          </p:cNvPr>
          <p:cNvSpPr txBox="1"/>
          <p:nvPr/>
        </p:nvSpPr>
        <p:spPr>
          <a:xfrm>
            <a:off x="549592" y="1550504"/>
            <a:ext cx="1061303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Software Requirements: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477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1AB3-8B35-1916-631A-8D254E0D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F071-9475-2044-DBEE-B9A60F71C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979"/>
            <a:ext cx="10515600" cy="183515"/>
          </a:xfrm>
        </p:spPr>
        <p:txBody>
          <a:bodyPr>
            <a:noAutofit/>
          </a:bodyPr>
          <a:lstStyle/>
          <a:p>
            <a:pPr algn="ctr">
              <a:lnSpc>
                <a:spcPts val="12880"/>
              </a:lnSpc>
            </a:pPr>
            <a:r>
              <a:rPr lang="en-US" b="1" dirty="0">
                <a:solidFill>
                  <a:srgbClr val="000000"/>
                </a:solidFill>
                <a:latin typeface="Calibri Light (Headings)"/>
                <a:ea typeface="Canva Sans Bold"/>
                <a:cs typeface="Canva Sans Bold"/>
                <a:sym typeface="Canva Sans Bold"/>
              </a:rPr>
              <a:t>System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08DC3-22CE-6086-C31F-28CCCFC0EF43}"/>
              </a:ext>
            </a:extLst>
          </p:cNvPr>
          <p:cNvSpPr txBox="1"/>
          <p:nvPr/>
        </p:nvSpPr>
        <p:spPr>
          <a:xfrm>
            <a:off x="549592" y="1550504"/>
            <a:ext cx="1061303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Hardware Requirements:</a:t>
            </a:r>
          </a:p>
          <a:p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FE41BF0-9F08-037C-2D27-5DB065B2D9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830374"/>
              </p:ext>
            </p:extLst>
          </p:nvPr>
        </p:nvGraphicFramePr>
        <p:xfrm>
          <a:off x="549592" y="2103120"/>
          <a:ext cx="10515600" cy="2926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287188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467577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69354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Server-Side (Development/Hosting)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Client-Side (End User)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07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Processor (CPU)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Intel Core i3 / AMD Ryzen 3 (or equivalent)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Standard Mobile or Desktop Processor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703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Memory (RAM)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4 GB minimum (8 GB recommended for dev)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2 GB minimum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061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Storage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</a:rPr>
                        <a:t>10 GB available disk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Minimal (Cached web assets only)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30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Network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Stable Internet Connection (Broadband recommended)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Standard Internet/Mobile Data connection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570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263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Categorizing Different Types of Requirements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35" y="1491669"/>
            <a:ext cx="11266998" cy="5147669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Functional Requirements (FRs):</a:t>
            </a:r>
            <a:endParaRPr lang="en-US" sz="2400" dirty="0"/>
          </a:p>
          <a:p>
            <a:pPr lvl="1"/>
            <a:r>
              <a:rPr lang="en-US" sz="2200" b="1" dirty="0"/>
              <a:t>Dynamic Trainer Dashboard</a:t>
            </a:r>
            <a:r>
              <a:rPr lang="en-US" sz="2200" dirty="0"/>
              <a:t> to allow Instructors to create, edit, publish, and delete training courses directly into the database.</a:t>
            </a:r>
          </a:p>
          <a:p>
            <a:pPr lvl="1"/>
            <a:r>
              <a:rPr lang="en-US" sz="2200" b="1" dirty="0"/>
              <a:t>Self-Service Employee Portal</a:t>
            </a:r>
            <a:r>
              <a:rPr lang="en-US" sz="2200" dirty="0"/>
              <a:t> where Learners can securely browse available corporate courses and enroll with a single click.</a:t>
            </a:r>
          </a:p>
          <a:p>
            <a:pPr lvl="1"/>
            <a:r>
              <a:rPr lang="en-US" sz="2200" b="1" dirty="0"/>
              <a:t>Real-Time Admin Analytics UI</a:t>
            </a:r>
            <a:r>
              <a:rPr lang="en-US" sz="2200" dirty="0"/>
              <a:t> to fetch and display aggregated statistics (total courses, active enrollments, and completion rates) across the organization.</a:t>
            </a:r>
          </a:p>
          <a:p>
            <a:pPr lvl="1"/>
            <a:r>
              <a:rPr lang="en-US" sz="2200" b="1" dirty="0"/>
              <a:t>Automated Role-Based Redirection</a:t>
            </a:r>
            <a:r>
              <a:rPr lang="en-US" sz="2200" dirty="0"/>
              <a:t> must instantly route authenticated users to their specific interfaces (Admin, Trainer, or Employee) based on their assigned database role.</a:t>
            </a:r>
          </a:p>
          <a:p>
            <a:r>
              <a:rPr lang="en-US" sz="2400" b="1" dirty="0"/>
              <a:t>Non-Functional Requirements (NFRs):</a:t>
            </a:r>
            <a:r>
              <a:rPr lang="en-US" sz="2400" dirty="0"/>
              <a:t> </a:t>
            </a:r>
          </a:p>
          <a:p>
            <a:pPr lvl="1"/>
            <a:r>
              <a:rPr lang="en-US" sz="2200" b="1" dirty="0"/>
              <a:t>Scalability:</a:t>
            </a:r>
            <a:r>
              <a:rPr lang="en-US" sz="2200" dirty="0"/>
              <a:t> The MongoDB database and Node.js backend can seamlessly handle hundreds of concurrent employee enrollments.</a:t>
            </a:r>
          </a:p>
          <a:p>
            <a:pPr lvl="1"/>
            <a:r>
              <a:rPr lang="en-US" sz="2200" b="1" dirty="0"/>
              <a:t>Security and Compliance:</a:t>
            </a:r>
            <a:r>
              <a:rPr lang="en-US" sz="2200" dirty="0"/>
              <a:t> Enforced via JWT (JSON Web Tokens) for secure authentication and strict Role-Based Access Control (RBAC).</a:t>
            </a:r>
          </a:p>
          <a:p>
            <a:pPr lvl="1"/>
            <a:r>
              <a:rPr lang="en-US" sz="2200" b="1" dirty="0"/>
              <a:t>Maintainability and Extensibility:</a:t>
            </a:r>
            <a:r>
              <a:rPr lang="en-US" sz="2200" dirty="0"/>
              <a:t> A modular MERN-stack architecture makes it easy to add future features (e.g., video streaming modules).</a:t>
            </a:r>
          </a:p>
          <a:p>
            <a:pPr lvl="1"/>
            <a:r>
              <a:rPr lang="en-US" sz="2200" b="1" dirty="0"/>
              <a:t>Performance and Stress:</a:t>
            </a:r>
            <a:r>
              <a:rPr lang="en-US" sz="2200" dirty="0"/>
              <a:t> The React frontend ensures fast, dynamic UI updates with API response times kept under optimal thresholds.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62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/>
              <a:t>Requirements Traceability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E9CAE8-3608-41AC-3E09-F361BD2ED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563380"/>
              </p:ext>
            </p:extLst>
          </p:nvPr>
        </p:nvGraphicFramePr>
        <p:xfrm>
          <a:off x="278296" y="1073427"/>
          <a:ext cx="11600955" cy="566273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9875">
                  <a:extLst>
                    <a:ext uri="{9D8B030D-6E8A-4147-A177-3AD203B41FA5}">
                      <a16:colId xmlns:a16="http://schemas.microsoft.com/office/drawing/2014/main" val="2271789280"/>
                    </a:ext>
                  </a:extLst>
                </a:gridCol>
                <a:gridCol w="1924216">
                  <a:extLst>
                    <a:ext uri="{9D8B030D-6E8A-4147-A177-3AD203B41FA5}">
                      <a16:colId xmlns:a16="http://schemas.microsoft.com/office/drawing/2014/main" val="222224933"/>
                    </a:ext>
                  </a:extLst>
                </a:gridCol>
                <a:gridCol w="1924216">
                  <a:extLst>
                    <a:ext uri="{9D8B030D-6E8A-4147-A177-3AD203B41FA5}">
                      <a16:colId xmlns:a16="http://schemas.microsoft.com/office/drawing/2014/main" val="1461413547"/>
                    </a:ext>
                  </a:extLst>
                </a:gridCol>
                <a:gridCol w="1924216">
                  <a:extLst>
                    <a:ext uri="{9D8B030D-6E8A-4147-A177-3AD203B41FA5}">
                      <a16:colId xmlns:a16="http://schemas.microsoft.com/office/drawing/2014/main" val="1173295806"/>
                    </a:ext>
                  </a:extLst>
                </a:gridCol>
                <a:gridCol w="1924216">
                  <a:extLst>
                    <a:ext uri="{9D8B030D-6E8A-4147-A177-3AD203B41FA5}">
                      <a16:colId xmlns:a16="http://schemas.microsoft.com/office/drawing/2014/main" val="2315428013"/>
                    </a:ext>
                  </a:extLst>
                </a:gridCol>
                <a:gridCol w="1924216">
                  <a:extLst>
                    <a:ext uri="{9D8B030D-6E8A-4147-A177-3AD203B41FA5}">
                      <a16:colId xmlns:a16="http://schemas.microsoft.com/office/drawing/2014/main" val="1694908033"/>
                    </a:ext>
                  </a:extLst>
                </a:gridCol>
              </a:tblGrid>
              <a:tr h="330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br>
                        <a:rPr lang="en-IN" sz="1100" b="0" dirty="0">
                          <a:effectLst/>
                        </a:rPr>
                      </a:br>
                      <a:r>
                        <a:rPr lang="en-IN" sz="1100" b="0" dirty="0">
                          <a:effectLst/>
                        </a:rPr>
                        <a:t>Requirement Description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0" dirty="0">
                          <a:effectLst/>
                        </a:rPr>
                        <a:t>Requirement Type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0" dirty="0">
                          <a:effectLst/>
                        </a:rPr>
                        <a:t>Source / Stakeholder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0" dirty="0">
                          <a:effectLst/>
                        </a:rPr>
                        <a:t>Related Design / Module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0" dirty="0">
                          <a:effectLst/>
                        </a:rPr>
                        <a:t>Implementation (Artifact)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0" dirty="0">
                          <a:effectLst/>
                        </a:rPr>
                        <a:t>Status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99257"/>
                  </a:ext>
                </a:extLst>
              </a:tr>
              <a:tr h="6141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Users must be able to securely register and login.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Functional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Employees, Trainers, Admin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Authentication Module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</a:rPr>
                        <a:t>authController.js, userModel.js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Implemented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151320"/>
                  </a:ext>
                </a:extLst>
              </a:tr>
              <a:tr h="6141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Instructors must be able to create, edit, and publish courses.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Functional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Instructors (Trainers)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Course Management Module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</a:rPr>
                        <a:t>courseController.js, 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effectLst/>
                        </a:rPr>
                        <a:t>CreateTraining.jsx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Implemented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782227"/>
                  </a:ext>
                </a:extLst>
              </a:tr>
              <a:tr h="6141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Employees must be able to browse courses and self-enroll.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Functional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Employees (Learners)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Enrollment Module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solidFill>
                            <a:schemeClr val="tx1"/>
                          </a:solidFill>
                          <a:effectLst/>
                        </a:rPr>
                        <a:t>enrollmentRouter.js, EmployeeDashboard.jsx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Implemented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7536"/>
                  </a:ext>
                </a:extLst>
              </a:tr>
              <a:tr h="7558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System must direct users to role-specific dashboards automatically.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Functional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All Users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UI Routing Module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solidFill>
                            <a:schemeClr val="tx1"/>
                          </a:solidFill>
                          <a:effectLst/>
                        </a:rPr>
                        <a:t>App.jsx, ProtectedRoute.jsx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Implemented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188423"/>
                  </a:ext>
                </a:extLst>
              </a:tr>
              <a:tr h="8975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Admin must be able to view real-time statistics on courses and enrollments.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Functional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Admin, HR Management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Analytics Dashboard Module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solidFill>
                            <a:schemeClr val="tx1"/>
                          </a:solidFill>
                          <a:effectLst/>
                        </a:rPr>
                        <a:t>statsController.js, AdminDashboard.jsx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Implemented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170549"/>
                  </a:ext>
                </a:extLst>
              </a:tr>
              <a:tr h="8975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System must ensure security of user data and enforce Role-Based Access Control.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Non-Functional (Security)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All Stakeholders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Security Module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</a:rPr>
                        <a:t>authMiddleware.js, JWT, 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effectLst/>
                        </a:rPr>
                        <a:t>bcrypt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Implemented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169633"/>
                  </a:ext>
                </a:extLst>
              </a:tr>
              <a:tr h="8975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System must handle multiple concurrent user enrollments with fast response times.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Non-Functional (Performance)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Employees, Management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Performance &amp; Scalability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</a:rPr>
                        <a:t>rateLimiter.js, MongoDB Config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Implemented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190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474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Change Management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666" y="1884459"/>
            <a:ext cx="10646134" cy="390409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595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INVEST Checklist</a:t>
            </a:r>
            <a:endParaRPr lang="en-IN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6243957"/>
              </p:ext>
            </p:extLst>
          </p:nvPr>
        </p:nvGraphicFramePr>
        <p:xfrm>
          <a:off x="485030" y="1351722"/>
          <a:ext cx="10868771" cy="4699221"/>
        </p:xfrm>
        <a:graphic>
          <a:graphicData uri="http://schemas.openxmlformats.org/drawingml/2006/table">
            <a:tbl>
              <a:tblPr/>
              <a:tblGrid>
                <a:gridCol w="3766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1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4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Letter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Principle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Red Flag (</a:t>
                      </a:r>
                      <a:r>
                        <a:rPr lang="en-IN" sz="1100" b="1" dirty="0" err="1">
                          <a:effectLst/>
                        </a:rPr>
                        <a:t>TrainHub</a:t>
                      </a:r>
                      <a:r>
                        <a:rPr lang="en-IN" sz="1100" b="1" dirty="0">
                          <a:effectLst/>
                        </a:rPr>
                        <a:t> Context)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1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I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</a:rPr>
                        <a:t>Independent</a:t>
                      </a:r>
                      <a:endParaRPr lang="en-IN" sz="11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"We can't start the Employee Dashboard until the Admin Dashboard is 100% done."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N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Negotiable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"The requirement says we </a:t>
                      </a:r>
                      <a:r>
                        <a:rPr lang="en-US" sz="1100" i="1" dirty="0">
                          <a:effectLst/>
                        </a:rPr>
                        <a:t>must</a:t>
                      </a:r>
                      <a:r>
                        <a:rPr lang="en-US" sz="1100" dirty="0">
                          <a:effectLst/>
                        </a:rPr>
                        <a:t> use Chart.js for analytics, instead of letting the developer choose the best tool."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0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V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Valuable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"I'm restructuring the MongoDB schema, but the end-user sees absolutely no new features or changes."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6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</a:rPr>
                        <a:t>E</a:t>
                      </a:r>
                      <a:endParaRPr lang="en-IN" sz="11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</a:rPr>
                        <a:t>Estimable</a:t>
                      </a:r>
                      <a:endParaRPr lang="en-IN" sz="11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"I have no idea if building the enrollment logic will take two days or two months."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5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</a:rPr>
                        <a:t>S</a:t>
                      </a:r>
                      <a:endParaRPr lang="en-IN" sz="11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Small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"The 'Build Course Management System' user story will likely take the entire 3-week sprint."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81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</a:rPr>
                        <a:t>T</a:t>
                      </a:r>
                      <a:endParaRPr lang="en-IN" sz="11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Testable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"The course enrollment process should feel 'fast' and 'intuitive'." </a:t>
                      </a:r>
                      <a:r>
                        <a:rPr lang="en-US" sz="1100" i="1" dirty="0">
                          <a:effectLst/>
                        </a:rPr>
                        <a:t>(Instead of a testable metric like 'Loads under 2 seconds')</a:t>
                      </a:r>
                      <a:endParaRPr lang="en-US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718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759" y="118399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Design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759" y="1253331"/>
            <a:ext cx="10515600" cy="4351338"/>
          </a:xfrm>
        </p:spPr>
        <p:txBody>
          <a:bodyPr>
            <a:noAutofit/>
          </a:bodyPr>
          <a:lstStyle/>
          <a:p>
            <a:r>
              <a:rPr lang="en-IN" sz="2300" b="1" dirty="0"/>
              <a:t>High-Level Design (HLD)</a:t>
            </a:r>
            <a:endParaRPr lang="en-IN" sz="2300" dirty="0"/>
          </a:p>
          <a:p>
            <a:pPr lvl="1"/>
            <a:r>
              <a:rPr lang="en-IN" sz="2000" b="1" dirty="0"/>
              <a:t>System Architecture:</a:t>
            </a:r>
            <a:r>
              <a:rPr lang="en-IN" sz="2000" dirty="0"/>
              <a:t> Selected a RESTful </a:t>
            </a:r>
            <a:r>
              <a:rPr lang="en-IN" sz="2000" b="1" dirty="0"/>
              <a:t>Monolithic</a:t>
            </a:r>
            <a:r>
              <a:rPr lang="en-IN" sz="2000" dirty="0"/>
              <a:t> architecture (Node.js/Express) paired with a Single Page Application (React) for streamlined deployment and centralized API management.</a:t>
            </a:r>
          </a:p>
          <a:p>
            <a:pPr lvl="1"/>
            <a:r>
              <a:rPr lang="en-IN" sz="2000" b="1" dirty="0"/>
              <a:t>Database Design:</a:t>
            </a:r>
            <a:r>
              <a:rPr lang="en-IN" sz="2000" dirty="0"/>
              <a:t> Chose </a:t>
            </a:r>
            <a:r>
              <a:rPr lang="en-IN" sz="2000" b="1" dirty="0"/>
              <a:t>NoSQL (MongoDB)</a:t>
            </a:r>
            <a:r>
              <a:rPr lang="en-IN" sz="2000" dirty="0"/>
              <a:t> for its flexible, document-based schema, allowing us to easily store varied course metadata and dynamic user roles without rigid SQL constraints.</a:t>
            </a:r>
          </a:p>
          <a:p>
            <a:pPr lvl="1"/>
            <a:r>
              <a:rPr lang="en-IN" sz="2000" b="1" dirty="0"/>
              <a:t>Integration Points:</a:t>
            </a:r>
            <a:r>
              <a:rPr lang="en-IN" sz="2000" dirty="0"/>
              <a:t> Secure REST API endpoints connecting the React frontend to the Node.js backend, heavily relying on JSON Web Tokens (JWT) for secure data exchange.</a:t>
            </a:r>
          </a:p>
          <a:p>
            <a:r>
              <a:rPr lang="en-IN" sz="2300" b="1" dirty="0"/>
              <a:t>Low-Level Design (LLD)</a:t>
            </a:r>
            <a:endParaRPr lang="en-IN" sz="2300" dirty="0"/>
          </a:p>
          <a:p>
            <a:pPr lvl="1"/>
            <a:r>
              <a:rPr lang="en-IN" sz="2000" b="1" dirty="0"/>
              <a:t>Class &amp; Sequence Diagrams:</a:t>
            </a:r>
            <a:r>
              <a:rPr lang="en-IN" sz="2000" dirty="0"/>
              <a:t> Defining strict Mongoose Schemas (User, Course, </a:t>
            </a:r>
            <a:r>
              <a:rPr lang="en-IN" sz="2000" dirty="0" err="1"/>
              <a:t>Enrollment</a:t>
            </a:r>
            <a:r>
              <a:rPr lang="en-IN" sz="2000" dirty="0"/>
              <a:t>) and mapping the exact request/response flow for the course </a:t>
            </a:r>
            <a:r>
              <a:rPr lang="en-IN" sz="2000" dirty="0" err="1"/>
              <a:t>enrollment</a:t>
            </a:r>
            <a:r>
              <a:rPr lang="en-IN" sz="2000" dirty="0"/>
              <a:t> process.</a:t>
            </a:r>
          </a:p>
          <a:p>
            <a:pPr lvl="1"/>
            <a:r>
              <a:rPr lang="en-IN" sz="2000" b="1" dirty="0"/>
              <a:t>Component Logic:</a:t>
            </a:r>
            <a:r>
              <a:rPr lang="en-IN" sz="2000" dirty="0"/>
              <a:t> Developing modular, reusable React components (e.g., </a:t>
            </a:r>
            <a:r>
              <a:rPr lang="en-IN" sz="2000" dirty="0" err="1"/>
              <a:t>CourseCard</a:t>
            </a:r>
            <a:r>
              <a:rPr lang="en-IN" sz="2000" dirty="0"/>
              <a:t>, </a:t>
            </a:r>
            <a:r>
              <a:rPr lang="en-IN" sz="2000" dirty="0" err="1"/>
              <a:t>ProtectedRoute</a:t>
            </a:r>
            <a:r>
              <a:rPr lang="en-IN" sz="2000" dirty="0"/>
              <a:t>) and contextual hooks (</a:t>
            </a:r>
            <a:r>
              <a:rPr lang="en-IN" sz="2000" dirty="0" err="1"/>
              <a:t>AuthContext</a:t>
            </a:r>
            <a:r>
              <a:rPr lang="en-IN" sz="2000" dirty="0"/>
              <a:t>) to manage client-side state.</a:t>
            </a:r>
          </a:p>
          <a:p>
            <a:pPr lvl="1"/>
            <a:r>
              <a:rPr lang="en-IN" sz="2000" b="1" dirty="0"/>
              <a:t>UI/UX Design:</a:t>
            </a:r>
            <a:r>
              <a:rPr lang="en-IN" sz="2000" dirty="0"/>
              <a:t> Designing responsive, role-specific dashboards (Admin vs. Trainer vs. Employee) featuring modern, accessible styling and dynamic DOM manipulation.</a:t>
            </a:r>
          </a:p>
        </p:txBody>
      </p:sp>
    </p:spTree>
    <p:extLst>
      <p:ext uri="{BB962C8B-B14F-4D97-AF65-F5344CB8AC3E}">
        <p14:creationId xmlns:p14="http://schemas.microsoft.com/office/powerpoint/2010/main" val="3749668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Cohesion &amp;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35" y="1582310"/>
            <a:ext cx="10836965" cy="4699221"/>
          </a:xfrm>
        </p:spPr>
        <p:txBody>
          <a:bodyPr>
            <a:normAutofit/>
          </a:bodyPr>
          <a:lstStyle/>
          <a:p>
            <a:r>
              <a:rPr lang="en-US" sz="2500" b="1" dirty="0"/>
              <a:t>Design Goal: High Cohesion &amp; Low Coupling</a:t>
            </a:r>
            <a:endParaRPr lang="en-US" sz="2500" dirty="0"/>
          </a:p>
          <a:p>
            <a:pPr lvl="1"/>
            <a:r>
              <a:rPr lang="en-US" sz="2200" b="1" dirty="0"/>
              <a:t>High Cohesion:</a:t>
            </a:r>
            <a:r>
              <a:rPr lang="en-US" sz="2200" dirty="0"/>
              <a:t> Every module in our system has a single, well-defined responsibility. For example, our </a:t>
            </a:r>
            <a:r>
              <a:rPr lang="en-US" sz="2200" dirty="0" err="1"/>
              <a:t>courseController</a:t>
            </a:r>
            <a:r>
              <a:rPr lang="en-US" sz="2200" dirty="0"/>
              <a:t> strictly handles course logic, while </a:t>
            </a:r>
            <a:r>
              <a:rPr lang="en-US" sz="2200" dirty="0" err="1"/>
              <a:t>authMiddleware</a:t>
            </a:r>
            <a:r>
              <a:rPr lang="en-US" sz="2200" dirty="0"/>
              <a:t> strictly manages security and JWT validation.</a:t>
            </a:r>
          </a:p>
          <a:p>
            <a:pPr lvl="1"/>
            <a:r>
              <a:rPr lang="en-US" sz="2200" b="1" dirty="0"/>
              <a:t>Low Coupling:</a:t>
            </a:r>
            <a:r>
              <a:rPr lang="en-US" sz="2200" dirty="0"/>
              <a:t> The React frontend and Node.js backend are loosely coupled. They operate independently and communicate solely via RESTful APIs using JSON, meaning we can update the UI without breaking backend logic.</a:t>
            </a:r>
          </a:p>
          <a:p>
            <a:r>
              <a:rPr lang="en-US" sz="2500" b="1" dirty="0"/>
              <a:t>Arriving at the Number of Modules for the Project:</a:t>
            </a:r>
            <a:endParaRPr lang="en-US" sz="2500" dirty="0"/>
          </a:p>
          <a:p>
            <a:pPr lvl="1"/>
            <a:r>
              <a:rPr lang="en-US" sz="2200" dirty="0"/>
              <a:t>By adhering to these principles, we logically divided </a:t>
            </a:r>
            <a:r>
              <a:rPr lang="en-US" sz="2200" dirty="0" err="1"/>
              <a:t>TrainHub</a:t>
            </a:r>
            <a:r>
              <a:rPr lang="en-US" sz="2200" dirty="0"/>
              <a:t> into </a:t>
            </a:r>
            <a:r>
              <a:rPr lang="en-US" sz="2200" b="1" dirty="0"/>
              <a:t>Four Core Modules</a:t>
            </a:r>
            <a:r>
              <a:rPr lang="en-US" sz="2200" dirty="0"/>
              <a:t>:</a:t>
            </a:r>
          </a:p>
          <a:p>
            <a:pPr lvl="2"/>
            <a:r>
              <a:rPr lang="en-US" sz="2200" b="1" dirty="0"/>
              <a:t>Authentication &amp; Security Module:</a:t>
            </a:r>
            <a:r>
              <a:rPr lang="en-US" sz="2200" dirty="0"/>
              <a:t> (User Registration, Login, RBAC)</a:t>
            </a:r>
          </a:p>
          <a:p>
            <a:pPr lvl="2"/>
            <a:r>
              <a:rPr lang="en-US" sz="2200" b="1" dirty="0"/>
              <a:t>Course Management Module:</a:t>
            </a:r>
            <a:r>
              <a:rPr lang="en-US" sz="2200" dirty="0"/>
              <a:t> (Trainers creating and publishing content)</a:t>
            </a:r>
          </a:p>
          <a:p>
            <a:pPr lvl="2"/>
            <a:r>
              <a:rPr lang="en-US" sz="2200" b="1" dirty="0"/>
              <a:t>Enrollment Tracking Module:</a:t>
            </a:r>
            <a:r>
              <a:rPr lang="en-US" sz="2200" dirty="0"/>
              <a:t> (Employees joining courses and tracking progress)</a:t>
            </a:r>
          </a:p>
          <a:p>
            <a:pPr lvl="2"/>
            <a:r>
              <a:rPr lang="en-US" sz="2200" b="1" dirty="0"/>
              <a:t>Admin Analytics Module:</a:t>
            </a:r>
            <a:r>
              <a:rPr lang="en-US" sz="2200" dirty="0"/>
              <a:t> (System-wide statistics and reporting)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638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Design Pattern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0848"/>
            <a:ext cx="10515600" cy="3188474"/>
          </a:xfrm>
        </p:spPr>
        <p:txBody>
          <a:bodyPr>
            <a:normAutofit/>
          </a:bodyPr>
          <a:lstStyle/>
          <a:p>
            <a:r>
              <a:rPr lang="en-IN" sz="2000" b="1" dirty="0"/>
              <a:t>MVC (Model-View-Controller) pattern</a:t>
            </a:r>
            <a:r>
              <a:rPr lang="en-IN" sz="2000" dirty="0"/>
              <a:t> used in the backend to separate database schemas, routing logic, and API responses.</a:t>
            </a:r>
          </a:p>
          <a:p>
            <a:r>
              <a:rPr lang="en-IN" sz="2000" b="1" dirty="0"/>
              <a:t>Middleware pattern</a:t>
            </a:r>
            <a:r>
              <a:rPr lang="en-IN" sz="2000" dirty="0"/>
              <a:t> used in Express.js for JWT authentication, rate limiting, and role-based access control (RBAC).</a:t>
            </a:r>
          </a:p>
          <a:p>
            <a:r>
              <a:rPr lang="en-IN" sz="2000" b="1" dirty="0"/>
              <a:t>Provider pattern</a:t>
            </a:r>
            <a:r>
              <a:rPr lang="en-IN" sz="2000" dirty="0"/>
              <a:t> via React Context API (</a:t>
            </a:r>
            <a:r>
              <a:rPr lang="en-IN" sz="2000" dirty="0" err="1"/>
              <a:t>AuthContext</a:t>
            </a:r>
            <a:r>
              <a:rPr lang="en-IN" sz="2000" dirty="0"/>
              <a:t>) for global state management without prop-drilling.</a:t>
            </a:r>
          </a:p>
          <a:p>
            <a:r>
              <a:rPr lang="en-IN" sz="2000" b="1" dirty="0"/>
              <a:t>Proxy pattern</a:t>
            </a:r>
            <a:r>
              <a:rPr lang="en-IN" sz="2000" dirty="0"/>
              <a:t> via Higher-Order Components (</a:t>
            </a:r>
            <a:r>
              <a:rPr lang="en-IN" sz="2000" dirty="0" err="1"/>
              <a:t>ProtectedRoute.jsx</a:t>
            </a:r>
            <a:r>
              <a:rPr lang="en-IN" sz="2000" dirty="0"/>
              <a:t>) to secure frontend routes based on user roles.</a:t>
            </a:r>
          </a:p>
        </p:txBody>
      </p:sp>
    </p:spTree>
    <p:extLst>
      <p:ext uri="{BB962C8B-B14F-4D97-AF65-F5344CB8AC3E}">
        <p14:creationId xmlns:p14="http://schemas.microsoft.com/office/powerpoint/2010/main" val="4045973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Architectural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63780"/>
          </a:xfrm>
        </p:spPr>
        <p:txBody>
          <a:bodyPr>
            <a:normAutofit/>
          </a:bodyPr>
          <a:lstStyle/>
          <a:p>
            <a:r>
              <a:rPr lang="en-US" sz="2300" dirty="0"/>
              <a:t>RESTful Monolithic architecture (Node.js/Express backend)</a:t>
            </a:r>
          </a:p>
          <a:p>
            <a:r>
              <a:rPr lang="en-US" sz="2300" dirty="0"/>
              <a:t>Suitable for small to medium corporate applications</a:t>
            </a:r>
          </a:p>
          <a:p>
            <a:r>
              <a:rPr lang="en-US" sz="2300" dirty="0"/>
              <a:t>Can be extended to microservices in the future (e.g., separating the Analytics module)</a:t>
            </a:r>
          </a:p>
        </p:txBody>
      </p:sp>
    </p:spTree>
    <p:extLst>
      <p:ext uri="{BB962C8B-B14F-4D97-AF65-F5344CB8AC3E}">
        <p14:creationId xmlns:p14="http://schemas.microsoft.com/office/powerpoint/2010/main" val="2148800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Technology Stack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272" y="1491670"/>
            <a:ext cx="10515600" cy="4351338"/>
          </a:xfrm>
        </p:spPr>
        <p:txBody>
          <a:bodyPr>
            <a:noAutofit/>
          </a:bodyPr>
          <a:lstStyle/>
          <a:p>
            <a:r>
              <a:rPr lang="en-IN" sz="2000" b="1" dirty="0"/>
              <a:t>Frontend (Client-Side):</a:t>
            </a:r>
            <a:endParaRPr lang="en-IN" sz="2000" dirty="0"/>
          </a:p>
          <a:p>
            <a:pPr lvl="1"/>
            <a:r>
              <a:rPr lang="en-IN" sz="2000" b="1" dirty="0"/>
              <a:t>React.js:</a:t>
            </a:r>
            <a:r>
              <a:rPr lang="en-IN" sz="2000" dirty="0"/>
              <a:t> For building a dynamic, component-based Single Page Application (SPA).</a:t>
            </a:r>
          </a:p>
          <a:p>
            <a:pPr lvl="1"/>
            <a:r>
              <a:rPr lang="en-IN" sz="2000" b="1" dirty="0"/>
              <a:t>Vite:</a:t>
            </a:r>
            <a:r>
              <a:rPr lang="en-IN" sz="2000" dirty="0"/>
              <a:t> Used as the blazing-fast build tool and development server.</a:t>
            </a:r>
          </a:p>
          <a:p>
            <a:pPr lvl="1"/>
            <a:r>
              <a:rPr lang="en-IN" sz="2000" b="1" dirty="0"/>
              <a:t>Vanilla CSS:</a:t>
            </a:r>
            <a:r>
              <a:rPr lang="en-IN" sz="2000" dirty="0"/>
              <a:t> For custom, lightweight styling and responsive layouts.</a:t>
            </a:r>
          </a:p>
          <a:p>
            <a:r>
              <a:rPr lang="en-IN" sz="2000" b="1" dirty="0"/>
              <a:t>Backend (Server-Side):</a:t>
            </a:r>
            <a:endParaRPr lang="en-IN" sz="2000" dirty="0"/>
          </a:p>
          <a:p>
            <a:pPr lvl="1"/>
            <a:r>
              <a:rPr lang="en-IN" sz="2000" b="1" dirty="0"/>
              <a:t>Node.js:</a:t>
            </a:r>
            <a:r>
              <a:rPr lang="en-IN" sz="2000" dirty="0"/>
              <a:t> JavaScript runtime environment for executing server code.</a:t>
            </a:r>
          </a:p>
          <a:p>
            <a:pPr lvl="1"/>
            <a:r>
              <a:rPr lang="en-IN" sz="2000" b="1" dirty="0"/>
              <a:t>Express.js:</a:t>
            </a:r>
            <a:r>
              <a:rPr lang="en-IN" sz="2000" dirty="0"/>
              <a:t> Web application framework for building RESTful APIs and handling routes.</a:t>
            </a:r>
          </a:p>
          <a:p>
            <a:r>
              <a:rPr lang="en-IN" sz="2000" b="1" dirty="0"/>
              <a:t>Database (Data Layer):</a:t>
            </a:r>
            <a:endParaRPr lang="en-IN" sz="2000" dirty="0"/>
          </a:p>
          <a:p>
            <a:pPr lvl="1"/>
            <a:r>
              <a:rPr lang="en-IN" sz="2000" b="1" dirty="0"/>
              <a:t>MongoDB:</a:t>
            </a:r>
            <a:r>
              <a:rPr lang="en-IN" sz="2000" dirty="0"/>
              <a:t> NoSQL document database for flexible data storage.</a:t>
            </a:r>
          </a:p>
          <a:p>
            <a:pPr lvl="1"/>
            <a:r>
              <a:rPr lang="en-IN" sz="2000" b="1" dirty="0"/>
              <a:t>Mongoose ODM:</a:t>
            </a:r>
            <a:r>
              <a:rPr lang="en-IN" sz="2000" dirty="0"/>
              <a:t> Object Data </a:t>
            </a:r>
            <a:r>
              <a:rPr lang="en-IN" sz="2000" dirty="0" err="1"/>
              <a:t>Modeling</a:t>
            </a:r>
            <a:r>
              <a:rPr lang="en-IN" sz="2000" dirty="0"/>
              <a:t> library for strict schema validation.</a:t>
            </a:r>
          </a:p>
          <a:p>
            <a:r>
              <a:rPr lang="en-IN" sz="2000" b="1" dirty="0"/>
              <a:t>Security &amp; Authentication:</a:t>
            </a:r>
            <a:endParaRPr lang="en-IN" sz="2000" dirty="0"/>
          </a:p>
          <a:p>
            <a:pPr lvl="1"/>
            <a:r>
              <a:rPr lang="en-IN" sz="2000" b="1" dirty="0"/>
              <a:t>JSON Web Tokens (JWT):</a:t>
            </a:r>
            <a:r>
              <a:rPr lang="en-IN" sz="2000" dirty="0"/>
              <a:t> For stateless, secure user authentication.</a:t>
            </a:r>
          </a:p>
          <a:p>
            <a:pPr lvl="1"/>
            <a:r>
              <a:rPr lang="en-IN" sz="2000" b="1" dirty="0" err="1"/>
              <a:t>bcrypt</a:t>
            </a:r>
            <a:r>
              <a:rPr lang="en-IN" sz="2000" b="1" dirty="0"/>
              <a:t>:</a:t>
            </a:r>
            <a:r>
              <a:rPr lang="en-IN" sz="2000" dirty="0"/>
              <a:t> For cryptographic hashing of user passwords.</a:t>
            </a:r>
          </a:p>
        </p:txBody>
      </p:sp>
    </p:spTree>
    <p:extLst>
      <p:ext uri="{BB962C8B-B14F-4D97-AF65-F5344CB8AC3E}">
        <p14:creationId xmlns:p14="http://schemas.microsoft.com/office/powerpoint/2010/main" val="1362619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300" b="1" dirty="0"/>
              <a:t>API Design:</a:t>
            </a:r>
            <a:endParaRPr lang="en-IN" sz="2300" dirty="0"/>
          </a:p>
          <a:p>
            <a:pPr marL="0" indent="0">
              <a:buNone/>
            </a:pPr>
            <a:r>
              <a:rPr lang="en-IN" sz="2300" dirty="0"/>
              <a:t>	RESTful APIs utilizing JSON for seamless, stateless communication between the React frontend and Node.js backend.</a:t>
            </a:r>
          </a:p>
          <a:p>
            <a:r>
              <a:rPr lang="en-IN" sz="2300" b="1" dirty="0"/>
              <a:t>UI/UX:</a:t>
            </a:r>
            <a:endParaRPr lang="en-IN" sz="2300" dirty="0"/>
          </a:p>
          <a:p>
            <a:pPr marL="0" indent="0">
              <a:buNone/>
            </a:pPr>
            <a:r>
              <a:rPr lang="en-IN" sz="2300" dirty="0"/>
              <a:t>	Role-specific, dashboard-based interfaces (Admin, Trainer, and Employee views).</a:t>
            </a:r>
          </a:p>
          <a:p>
            <a:pPr marL="0" indent="0">
              <a:buNone/>
            </a:pPr>
            <a:r>
              <a:rPr lang="en-IN" sz="2300" dirty="0"/>
              <a:t>	Responsive, modern design utilizing custom CSS (featuring </a:t>
            </a:r>
            <a:r>
              <a:rPr lang="en-IN" sz="2300" dirty="0" err="1"/>
              <a:t>Glassmorphism</a:t>
            </a:r>
            <a:r>
              <a:rPr lang="en-IN" sz="2300" dirty="0"/>
              <a:t> and dark-mode aesthetics) for an optimal user experience across all devices.</a:t>
            </a:r>
          </a:p>
        </p:txBody>
      </p:sp>
    </p:spTree>
    <p:extLst>
      <p:ext uri="{BB962C8B-B14F-4D97-AF65-F5344CB8AC3E}">
        <p14:creationId xmlns:p14="http://schemas.microsoft.com/office/powerpoint/2010/main" val="4035491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Coding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Defensive Programming:</a:t>
            </a:r>
            <a:endParaRPr lang="en-IN" dirty="0"/>
          </a:p>
          <a:p>
            <a:pPr lvl="1"/>
            <a:r>
              <a:rPr lang="en-IN" b="1" dirty="0"/>
              <a:t>Input Validation:</a:t>
            </a:r>
            <a:r>
              <a:rPr lang="en-IN" dirty="0"/>
              <a:t> Using express-validator and mongoose schemas to sanitize frontend inputs before hitting the database.</a:t>
            </a:r>
          </a:p>
          <a:p>
            <a:pPr lvl="1"/>
            <a:r>
              <a:rPr lang="en-IN" b="1" dirty="0"/>
              <a:t>Error Handling:</a:t>
            </a:r>
            <a:r>
              <a:rPr lang="en-IN" dirty="0"/>
              <a:t> Implementing centralized, global error-handling middleware in Node.js to prevent server crashes.</a:t>
            </a:r>
          </a:p>
          <a:p>
            <a:r>
              <a:rPr lang="en-IN" b="1" dirty="0"/>
              <a:t>Documentation and Tooling:</a:t>
            </a:r>
            <a:endParaRPr lang="en-IN" dirty="0"/>
          </a:p>
          <a:p>
            <a:pPr lvl="1"/>
            <a:r>
              <a:rPr lang="en-IN" dirty="0"/>
              <a:t>Comments that explain "Why" a decision was made, not "What" the code is doing.</a:t>
            </a:r>
          </a:p>
          <a:p>
            <a:pPr lvl="1"/>
            <a:r>
              <a:rPr lang="en-IN" b="1" dirty="0"/>
              <a:t>Automated Linting:</a:t>
            </a:r>
            <a:r>
              <a:rPr lang="en-IN" dirty="0"/>
              <a:t> Enforcing code quality and formatting consistency using </a:t>
            </a:r>
            <a:r>
              <a:rPr lang="en-IN" dirty="0" err="1"/>
              <a:t>ESLint</a:t>
            </a:r>
            <a:r>
              <a:rPr lang="en-IN" dirty="0"/>
              <a:t>.</a:t>
            </a:r>
            <a:endParaRPr lang="en-IN" sz="2600" dirty="0"/>
          </a:p>
          <a:p>
            <a:r>
              <a:rPr lang="en-IN" sz="2600" dirty="0"/>
              <a:t>Structuring React applications with modular, single-responsibility components.</a:t>
            </a:r>
          </a:p>
          <a:p>
            <a:r>
              <a:rPr lang="en-IN" sz="2600" dirty="0"/>
              <a:t>Using clear, self-documenting variables and functions (e.g., </a:t>
            </a:r>
            <a:r>
              <a:rPr lang="en-IN" sz="2600" dirty="0" err="1"/>
              <a:t>fetchCourseEnrollments</a:t>
            </a:r>
            <a:r>
              <a:rPr lang="en-IN" sz="2600" dirty="0"/>
              <a:t> instead of </a:t>
            </a:r>
            <a:r>
              <a:rPr lang="en-IN" sz="2600" dirty="0" err="1"/>
              <a:t>getCE</a:t>
            </a:r>
            <a:r>
              <a:rPr lang="en-IN" sz="2600" dirty="0"/>
              <a:t>).</a:t>
            </a:r>
          </a:p>
          <a:p>
            <a:r>
              <a:rPr lang="en-IN" sz="2600" dirty="0"/>
              <a:t>Utilizing reusable UI components (like </a:t>
            </a:r>
            <a:r>
              <a:rPr lang="en-IN" sz="2600" dirty="0" err="1"/>
              <a:t>CourseCard</a:t>
            </a:r>
            <a:r>
              <a:rPr lang="en-IN" sz="2600" dirty="0"/>
              <a:t> or </a:t>
            </a:r>
            <a:r>
              <a:rPr lang="en-IN" sz="2600" dirty="0" err="1"/>
              <a:t>ProtectedRoute</a:t>
            </a:r>
            <a:r>
              <a:rPr lang="en-IN" sz="2600" dirty="0"/>
              <a:t>) and a centralized api.js Axios instance to eliminate redundant fetch logic.</a:t>
            </a:r>
          </a:p>
          <a:p>
            <a:r>
              <a:rPr lang="en-IN" sz="2600" dirty="0"/>
              <a:t>Prioritizing clear, straightforward logic (like using React Context for auth state) instead of over-engineering with heavy tools like Redux prematurely.</a:t>
            </a:r>
          </a:p>
        </p:txBody>
      </p:sp>
    </p:spTree>
    <p:extLst>
      <p:ext uri="{BB962C8B-B14F-4D97-AF65-F5344CB8AC3E}">
        <p14:creationId xmlns:p14="http://schemas.microsoft.com/office/powerpoint/2010/main" val="1417178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CODE ANALYSIS &amp;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300" b="1" dirty="0"/>
              <a:t>Static Code Analysis:</a:t>
            </a:r>
            <a:r>
              <a:rPr lang="en-US" sz="2300" dirty="0"/>
              <a:t> </a:t>
            </a:r>
            <a:r>
              <a:rPr lang="en-US" sz="2000" dirty="0"/>
              <a:t>Utilization of linters (e.g., </a:t>
            </a:r>
            <a:r>
              <a:rPr lang="en-US" sz="2000" dirty="0" err="1"/>
              <a:t>ESLint</a:t>
            </a:r>
            <a:r>
              <a:rPr lang="en-US" sz="2000" dirty="0"/>
              <a:t> for JavaScript/React) during the development lifecycle to ensure high code quality, consistent formatting, and early bug detection.</a:t>
            </a:r>
          </a:p>
          <a:p>
            <a:r>
              <a:rPr lang="en-US" sz="2300" b="1" dirty="0"/>
              <a:t>Dynamic Application Security Testing (DAST):</a:t>
            </a:r>
            <a:r>
              <a:rPr lang="en-US" sz="2300" dirty="0"/>
              <a:t> </a:t>
            </a:r>
            <a:r>
              <a:rPr lang="en-US" sz="2000" dirty="0"/>
              <a:t>System architecture is designed to be compatible with DAST tools like OWASP ZAP to actively inspect for Cross-Site Scripting (XSS) and broken authentication vulnerabilities in the live environment.</a:t>
            </a:r>
          </a:p>
          <a:p>
            <a:r>
              <a:rPr lang="en-US" sz="2300" b="1" dirty="0"/>
              <a:t>Postman API Testing:</a:t>
            </a:r>
            <a:r>
              <a:rPr lang="en-US" sz="2300" dirty="0"/>
              <a:t> </a:t>
            </a:r>
            <a:r>
              <a:rPr lang="en-US" sz="2000" dirty="0"/>
              <a:t>Thorough endpoint testing for all Role-Based Access Control (RBAC) route restrictions (Admin vs. Trainer vs. Employee access) before frontend integration.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12471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788D8-4932-088C-7F17-F49DE01AC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E63C5-FBB0-DACB-F5FA-598B35B8A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/>
              <a:t>Requirments</a:t>
            </a:r>
            <a:r>
              <a:rPr lang="en-IN" b="1" dirty="0"/>
              <a:t>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990CA-9913-EF6D-62DF-C2C33F36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Entity-Relationship Diagram (ERD)</a:t>
            </a:r>
          </a:p>
          <a:p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A868C-82BC-8886-9DA0-11F34DD9B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911" y="2473343"/>
            <a:ext cx="5001371" cy="401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54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54C5-5BD2-902B-737B-E170C22A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1" y="0"/>
            <a:ext cx="10515600" cy="1325563"/>
          </a:xfrm>
        </p:spPr>
        <p:txBody>
          <a:bodyPr/>
          <a:lstStyle/>
          <a:p>
            <a:pPr algn="ctr"/>
            <a:r>
              <a:rPr lang="en-IN" b="1" dirty="0" err="1"/>
              <a:t>Requirments</a:t>
            </a:r>
            <a:r>
              <a:rPr lang="en-IN" b="1" dirty="0"/>
              <a:t> mapping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D4E23-740F-FA56-21AD-4B3F77308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329"/>
            <a:ext cx="10515600" cy="508763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User Case and Sequence: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C66E22-502E-60B5-B0BF-2F64B32E8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04" y="1470909"/>
            <a:ext cx="5847447" cy="521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91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3610A-7860-F730-0823-D2C863933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C0E7-E745-8AAA-7322-B07D1EF6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1" y="0"/>
            <a:ext cx="10515600" cy="1325563"/>
          </a:xfrm>
        </p:spPr>
        <p:txBody>
          <a:bodyPr/>
          <a:lstStyle/>
          <a:p>
            <a:pPr algn="ctr"/>
            <a:r>
              <a:rPr lang="en-IN" b="1" dirty="0" err="1"/>
              <a:t>Requirments</a:t>
            </a:r>
            <a:r>
              <a:rPr lang="en-IN" b="1" dirty="0"/>
              <a:t> mapping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6010-374B-4EEE-8D68-FB54BA587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329"/>
            <a:ext cx="10515600" cy="508763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User Case and Sequence: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B64D4-81A1-3E58-1C6A-888CABF23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74" y="1763533"/>
            <a:ext cx="8738484" cy="448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0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</TotalTime>
  <Words>2280</Words>
  <Application>Microsoft Office PowerPoint</Application>
  <PresentationFormat>Widescreen</PresentationFormat>
  <Paragraphs>228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Calibri Light (Headings)</vt:lpstr>
      <vt:lpstr>Office Theme</vt:lpstr>
      <vt:lpstr>Industry Specific Practices</vt:lpstr>
      <vt:lpstr>Problem Definition (The SMART Criteria) </vt:lpstr>
      <vt:lpstr>Current vs. Desired State</vt:lpstr>
      <vt:lpstr>About the Problem</vt:lpstr>
      <vt:lpstr>ISO/IEC/IEEE 29148:2018</vt:lpstr>
      <vt:lpstr>Requirements Engineering Life Cycle</vt:lpstr>
      <vt:lpstr>System Requirements</vt:lpstr>
      <vt:lpstr>System Requirements</vt:lpstr>
      <vt:lpstr>Categorizing Different Types of Requirements</vt:lpstr>
      <vt:lpstr>Requirements Traceability </vt:lpstr>
      <vt:lpstr>Change Management Criteria</vt:lpstr>
      <vt:lpstr>INVEST Checklist</vt:lpstr>
      <vt:lpstr>Design Engineering</vt:lpstr>
      <vt:lpstr>Cohesion &amp; Coupling</vt:lpstr>
      <vt:lpstr>Design Pattern Usage</vt:lpstr>
      <vt:lpstr>Architectural Styles</vt:lpstr>
      <vt:lpstr>Technology Stack</vt:lpstr>
      <vt:lpstr>Interface Design</vt:lpstr>
      <vt:lpstr>Coding Practices</vt:lpstr>
      <vt:lpstr>CODE ANALYSIS &amp; TOOLING</vt:lpstr>
      <vt:lpstr>Requirments mapping</vt:lpstr>
      <vt:lpstr>Requirments mapping</vt:lpstr>
      <vt:lpstr>Requirments mapping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Specific Practices</dc:title>
  <dc:creator>HP</dc:creator>
  <cp:lastModifiedBy>Niki allen</cp:lastModifiedBy>
  <cp:revision>23</cp:revision>
  <dcterms:created xsi:type="dcterms:W3CDTF">2026-04-02T00:00:44Z</dcterms:created>
  <dcterms:modified xsi:type="dcterms:W3CDTF">2026-05-08T02:49:13Z</dcterms:modified>
</cp:coreProperties>
</file>